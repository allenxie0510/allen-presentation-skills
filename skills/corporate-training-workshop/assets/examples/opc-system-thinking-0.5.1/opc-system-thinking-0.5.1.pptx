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3d6c794a34b10" /><Relationship Type="http://schemas.openxmlformats.org/officeDocument/2006/relationships/extended-properties" Target="/docProps/app.xml" Id="Rb77bbb8f110443af" /><Relationship Type="http://schemas.openxmlformats.org/officeDocument/2006/relationships/officeDocument" Target="/ppt/presentation.xml" Id="R457e3d59660b4b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0ee065bed4bfa"/>
  </p:sldMasterIdLst>
  <p:notesMasterIdLst>
    <p:notesMasterId xmlns:r="http://schemas.openxmlformats.org/officeDocument/2006/relationships" r:id="Rcdd6182cc4054e58"/>
  </p:notesMasterIdLst>
  <p:sldIdLst>
    <p:sldId xmlns:r="http://schemas.openxmlformats.org/officeDocument/2006/relationships" id="256" r:id="R818b7b3e3b3147d8"/>
    <p:sldId xmlns:r="http://schemas.openxmlformats.org/officeDocument/2006/relationships" id="257" r:id="R3bd8590e51d04f54"/>
    <p:sldId xmlns:r="http://schemas.openxmlformats.org/officeDocument/2006/relationships" id="258" r:id="R91e192b27cb545d0"/>
    <p:sldId xmlns:r="http://schemas.openxmlformats.org/officeDocument/2006/relationships" id="259" r:id="R4439806b8fc44b38"/>
    <p:sldId xmlns:r="http://schemas.openxmlformats.org/officeDocument/2006/relationships" id="260" r:id="R6efa613857f94460"/>
    <p:sldId xmlns:r="http://schemas.openxmlformats.org/officeDocument/2006/relationships" id="261" r:id="R05b9bcff23bd4d2d"/>
    <p:sldId xmlns:r="http://schemas.openxmlformats.org/officeDocument/2006/relationships" id="262" r:id="R521a5bcd36ef41ba"/>
    <p:sldId xmlns:r="http://schemas.openxmlformats.org/officeDocument/2006/relationships" id="263" r:id="Red83fcbd49c14b05"/>
    <p:sldId xmlns:r="http://schemas.openxmlformats.org/officeDocument/2006/relationships" id="264" r:id="R6dad09640d7f4274"/>
    <p:sldId xmlns:r="http://schemas.openxmlformats.org/officeDocument/2006/relationships" id="265" r:id="Rd17112a0e4564560"/>
    <p:sldId xmlns:r="http://schemas.openxmlformats.org/officeDocument/2006/relationships" id="266" r:id="R9012c658e3054431"/>
    <p:sldId xmlns:r="http://schemas.openxmlformats.org/officeDocument/2006/relationships" id="267" r:id="R1e94663c8e6542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05c257e2c84bd3" /><Relationship Type="http://schemas.openxmlformats.org/officeDocument/2006/relationships/slideMaster" Target="/ppt/slideMasters/slideMaster1.xml" Id="Rc420ee065bed4bfa" /><Relationship Type="http://schemas.openxmlformats.org/officeDocument/2006/relationships/notesMaster" Target="/ppt/notesMasters/notesMaster1.xml" Id="Rcdd6182cc4054e58" /><Relationship Type="http://schemas.openxmlformats.org/officeDocument/2006/relationships/presProps" Target="/ppt/presProps.xml" Id="R1fa83157175b4eb3" /><Relationship Type="http://schemas.openxmlformats.org/officeDocument/2006/relationships/tableStyles" Target="/ppt/tableStyles.xml" Id="Rb9254d7fedd74b97" /><Relationship Type="http://schemas.openxmlformats.org/officeDocument/2006/relationships/slide" Target="/ppt/slides/slide1.xml" Id="R818b7b3e3b3147d8" /><Relationship Type="http://schemas.openxmlformats.org/officeDocument/2006/relationships/slide" Target="/ppt/slides/slide2.xml" Id="R3bd8590e51d04f54" /><Relationship Type="http://schemas.openxmlformats.org/officeDocument/2006/relationships/slide" Target="/ppt/slides/slide3.xml" Id="R91e192b27cb545d0" /><Relationship Type="http://schemas.openxmlformats.org/officeDocument/2006/relationships/slide" Target="/ppt/slides/slide4.xml" Id="R4439806b8fc44b38" /><Relationship Type="http://schemas.openxmlformats.org/officeDocument/2006/relationships/slide" Target="/ppt/slides/slide5.xml" Id="R6efa613857f94460" /><Relationship Type="http://schemas.openxmlformats.org/officeDocument/2006/relationships/slide" Target="/ppt/slides/slide6.xml" Id="R05b9bcff23bd4d2d" /><Relationship Type="http://schemas.openxmlformats.org/officeDocument/2006/relationships/slide" Target="/ppt/slides/slide7.xml" Id="R521a5bcd36ef41ba" /><Relationship Type="http://schemas.openxmlformats.org/officeDocument/2006/relationships/slide" Target="/ppt/slides/slide8.xml" Id="Red83fcbd49c14b05" /><Relationship Type="http://schemas.openxmlformats.org/officeDocument/2006/relationships/slide" Target="/ppt/slides/slide9.xml" Id="R6dad09640d7f4274" /><Relationship Type="http://schemas.openxmlformats.org/officeDocument/2006/relationships/slide" Target="/ppt/slides/slide10.xml" Id="Rd17112a0e4564560" /><Relationship Type="http://schemas.openxmlformats.org/officeDocument/2006/relationships/slide" Target="/ppt/slides/slide11.xml" Id="R9012c658e3054431" /><Relationship Type="http://schemas.openxmlformats.org/officeDocument/2006/relationships/slide" Target="/ppt/slides/slide12.xml" Id="R1e94663c8e6542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968ac36ad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fb11d714e43a2" /><Relationship Type="http://schemas.openxmlformats.org/officeDocument/2006/relationships/notesMaster" Target="/ppt/notesMasters/notesMaster1.xml" Id="R62c1eaf855734a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ff3e78b9004feb" /><Relationship Type="http://schemas.openxmlformats.org/officeDocument/2006/relationships/notesMaster" Target="/ppt/notesMasters/notesMaster1.xml" Id="Rc633b8ef84ef46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e7effc58ab40eb" /><Relationship Type="http://schemas.openxmlformats.org/officeDocument/2006/relationships/notesMaster" Target="/ppt/notesMasters/notesMaster1.xml" Id="Rbb6b6daf32ad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b2ba80cd75488d" /><Relationship Type="http://schemas.openxmlformats.org/officeDocument/2006/relationships/notesMaster" Target="/ppt/notesMasters/notesMaster1.xml" Id="Re3db0307d5ee41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3a86460d8245d2" /><Relationship Type="http://schemas.openxmlformats.org/officeDocument/2006/relationships/notesMaster" Target="/ppt/notesMasters/notesMaster1.xml" Id="Rb85f686a0c8840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8c5793d8b4917" /><Relationship Type="http://schemas.openxmlformats.org/officeDocument/2006/relationships/notesMaster" Target="/ppt/notesMasters/notesMaster1.xml" Id="Rfa57a064903b49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91bd6cdab4352" /><Relationship Type="http://schemas.openxmlformats.org/officeDocument/2006/relationships/notesMaster" Target="/ppt/notesMasters/notesMaster1.xml" Id="R93ea1d94f5ad46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fe381cd7e42b4" /><Relationship Type="http://schemas.openxmlformats.org/officeDocument/2006/relationships/notesMaster" Target="/ppt/notesMasters/notesMaster1.xml" Id="Rd3193e38a8184a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d5a13dac8e4e90" /><Relationship Type="http://schemas.openxmlformats.org/officeDocument/2006/relationships/notesMaster" Target="/ppt/notesMasters/notesMaster1.xml" Id="R070ec7ae94d3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9789c72e134aa0" /><Relationship Type="http://schemas.openxmlformats.org/officeDocument/2006/relationships/notesMaster" Target="/ppt/notesMasters/notesMaster1.xml" Id="R002c21e526934d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be32d4ae8b4a8e" /><Relationship Type="http://schemas.openxmlformats.org/officeDocument/2006/relationships/notesMaster" Target="/ppt/notesMasters/notesMaster1.xml" Id="Rf0b4f8535dce46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27f06af1d749ba" /><Relationship Type="http://schemas.openxmlformats.org/officeDocument/2006/relationships/notesMaster" Target="/ppt/notesMasters/notesMaster1.xml" Id="Reebc4615269c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开场先问：如果你休息 7 天，哪些业务循环仍能继续？用答案引出：OPC 的核心不是一人承担全部工作，而是一人拥有并设计系统。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  <a:p xmlns:a="http://schemas.openxmlformats.org/drawingml/2006/main">
            <a:r>
              <a:t>- Synthetic concept photograph generated for this example; not a real founder, client, or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请学员回忆最近一周最忙的三个时刻。先判断是什么依赖关系让事情只能等自己，不要先讨论工具。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说明离场成果：一张系统地图、一个瓶颈判断、一个 30 天动作。若时间不足，优先缩短讲解，不删除练习与反馈。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不要把“AI 能不能做”作为第一问题。先判断任务属于哪一层，以及人是否必须保留最终责任。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请学员先判断自己的业务在哪个循环存在等待、丢失、返工或不可见；反馈环决定系统能否自我改进。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  <a:p xmlns:a="http://schemas.openxmlformats.org/drawingml/2006/main">
            <a:r>
              <a:t>- Synthetic concept photograph generated for this example; not real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这些数字只用于说明瓶颈直觉，不是行业基准。更多上游输入可能只会增加在制品、等待和返工。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OPC一人公司系统思维_培训版.pptx; all figures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 AI 万能化。品牌定位、最终报价、法律承诺等即使有 AI 参与，也需要明确的人类决策门。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这是结构示例，不是实测绩效数据。请学员观察：资产是否回写、创始人忙时系统是否仍能推进。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  <a:p xmlns:a="http://schemas.openxmlformats.org/drawingml/2006/main">
            <a:r>
              <a:t>- Synthetic concept photograph generated for this example; not a real client or measured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如果学员卡住，允许只画三个最重要循环。复盘：哪个环节最依赖你？它是判断、容量还是规则问题？新风险门在哪里？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  <a:p xmlns:a="http://schemas.openxmlformats.org/drawingml/2006/main">
            <a:r>
              <a:t>- Synthetic concept photograph generated for this example; not real participants.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请同伴只按三个可观察标准反馈。不要用“听懂了”或“看起来不错”代替验收。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  <a:p xmlns:a="http://schemas.openxmlformats.org/drawingml/2006/main">
            <a:r>
              <a:t>- Synthetic concept photograph generated for this example; not real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让学员写下一个 30 天动作。一周后复盘：瓶颈是否移动、创始人依赖是否减少、可复用资产是否增加。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收尾时请学员把承诺写下来。强调：30 天只改一个瓶颈，不要一次搭完整系统。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deck: OPC一人公司系统思维_培训版.pptx</a:t>
            </a:r>
          </a:p>
          <a:p xmlns:a="http://schemas.openxmlformats.org/drawingml/2006/main">
            <a:r>
              <a:t>- Synthetic concept photograph generated for this example; not a real founder, client, or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00eb34f224f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29a4792c34802" /><Relationship Type="http://schemas.openxmlformats.org/officeDocument/2006/relationships/slideLayout" Target="/ppt/slideLayouts/slideLayout1.xml" Id="Rd4be3454042e44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e3454042e44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3b29bc26c46aa" /><Relationship Type="http://schemas.openxmlformats.org/officeDocument/2006/relationships/image" Target="/ppt/media/image.png" Id="Rfeeaec8b3371499f" /><Relationship Type="http://schemas.openxmlformats.org/officeDocument/2006/relationships/notesSlide" Target="/ppt/notesSlides/notesSlide1.xml" Id="R7f7f0824b14743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ddcabd32b4ad8" /><Relationship Type="http://schemas.openxmlformats.org/officeDocument/2006/relationships/notesSlide" Target="/ppt/notesSlides/notesSlide2.xml" Id="Re3aada05580c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49c2154f44e84" /><Relationship Type="http://schemas.openxmlformats.org/officeDocument/2006/relationships/notesSlide" Target="/ppt/notesSlides/notesSlide3.xml" Id="Rea91b6f4cc0d4f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f6eeca17c4fa0" /><Relationship Type="http://schemas.openxmlformats.org/officeDocument/2006/relationships/notesSlide" Target="/ppt/notesSlides/notesSlide4.xml" Id="Rbc697aba1ea0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5d664ae849f7" /><Relationship Type="http://schemas.openxmlformats.org/officeDocument/2006/relationships/image" Target="/ppt/media/image2.png" Id="R9080a88de4274444" /><Relationship Type="http://schemas.openxmlformats.org/officeDocument/2006/relationships/notesSlide" Target="/ppt/notesSlides/notesSlide5.xml" Id="R88c772c4929b4e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19580b1324b0f" /><Relationship Type="http://schemas.openxmlformats.org/officeDocument/2006/relationships/notesSlide" Target="/ppt/notesSlides/notesSlide6.xml" Id="Rf93cf9e1e2d44e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a058d0b614a72" /><Relationship Type="http://schemas.openxmlformats.org/officeDocument/2006/relationships/notesSlide" Target="/ppt/notesSlides/notesSlide7.xml" Id="Re0872f23b0c54f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bc2a3b97544a6" /><Relationship Type="http://schemas.openxmlformats.org/officeDocument/2006/relationships/image" Target="/ppt/media/image3.png" Id="Ra1087c4ec4ad414e" /><Relationship Type="http://schemas.openxmlformats.org/officeDocument/2006/relationships/notesSlide" Target="/ppt/notesSlides/notesSlide8.xml" Id="Rd372bcbf411f4e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2f743874a44b2" /><Relationship Type="http://schemas.openxmlformats.org/officeDocument/2006/relationships/image" Target="/ppt/media/image4.png" Id="Rb0fa57036c554805" /><Relationship Type="http://schemas.openxmlformats.org/officeDocument/2006/relationships/notesSlide" Target="/ppt/notesSlides/notesSlide9.xml" Id="Raf2f38f77db341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efe48a5514c5d" /><Relationship Type="http://schemas.openxmlformats.org/officeDocument/2006/relationships/image" Target="/ppt/media/image5.png" Id="Rade731e7ab95449d" /><Relationship Type="http://schemas.openxmlformats.org/officeDocument/2006/relationships/notesSlide" Target="/ppt/notesSlides/notesSlide10.xml" Id="Rf99667fd3cab46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d7e841bfe4574" /><Relationship Type="http://schemas.openxmlformats.org/officeDocument/2006/relationships/notesSlide" Target="/ppt/notesSlides/notesSlide11.xml" Id="R9c6dbec028c147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847acdfac42a4" /><Relationship Type="http://schemas.openxmlformats.org/officeDocument/2006/relationships/image" Target="/ppt/media/image6.png" Id="R5fe3cd3974fa4e85" /><Relationship Type="http://schemas.openxmlformats.org/officeDocument/2006/relationships/notesSlide" Target="/ppt/notesSlides/notesSlide12.xml" Id="R95cddb7eff1649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aec8b337149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7F8A2-8689-46BD-AA43-CCE3EFB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3C59F-34BF-449E-87D7-DEB13CB5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99578-1DFC-41C1-8D31-A2E5FC2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CORPORATE TRAINING WORKSHOP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3A35AD6C-E9DD-4319-B59B-85C095C6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095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OPC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一人公司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系统思维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8E84-91AF-4ED6-978A-1DD8864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从“一个人做很多事”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到“一个人经营可复利的系统”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1767B-14F1-40CB-8200-4BDD6A8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识别瓶颈 · 重构分工 · 建立反馈 · 沉淀资产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3F23F-BA94-4D85-B56D-36EDE7F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SYNTHETIC CONCEPT PHOTOGRAPHY · 非真实项目影像</a:t>
            </a:r>
          </a:p>
        </p:txBody>
      </p:sp>
    </p:spTree>
    <p:extLst>
      <p:ext uri="{BB962C8B-B14F-4D97-AF65-F5344CB8AC3E}">
        <p14:creationId xmlns:p14="http://schemas.microsoft.com/office/powerpoint/2010/main" val="395974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61CAA-356E-4651-BB54-D68D6E94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5AC806A3-5A8A-4FE3-9DC8-90DB0C4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02 · WHY SYSTEMS</a:t>
            </a:r>
          </a:p>
        </p:txBody>
      </p:sp>
      <p:sp>
        <p:nvSpPr>
          <p:cNvPr id="3" name="s2-number">
            <a:extLst xmlns:a="http://schemas.openxmlformats.org/drawingml/2006/main">
              <a:ext uri="{FF2B5EF4-FFF2-40B4-BE49-F238E27FC236}">
                <a16:creationId xmlns:a16="http://schemas.microsoft.com/office/drawing/2014/main" id="{18B0E4BF-8CBE-4A6D-932B-E094224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C178A3-CDC3-48E6-8D01-7E4DB8FD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真正的限制不是人少，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而是所有环节都在等你。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A3AE8-12AB-491B-A3BE-0D6EB98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当判断、切换与执行全部耦合在创始人身上，增长只会把个人负荷放大。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4036A-5730-4250-BBCC-379F4FBF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997E1-8139-4587-ABFC-290E3E22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8C4EA-A288-428B-89E2-D1AF30E6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任务切换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A8260-EAAF-4CF5-B03F-EEC4AA9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内容、销售与交付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持续争夺注意力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C5494-35A2-4599-9FE0-150F6E01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145A2-A3B8-4A75-9BCC-BCCCA8A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ACC0E-3D10-4FFE-992B-3F81256A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知识锁住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434BF-1505-4F70-9AD1-AD5BEDB6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01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SOP 不可见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经验难以被复用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CFEC2-7237-492D-AE36-5E17E1DC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3067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FD934-AEB0-4A68-A9EE-D540C004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84686-3D34-4D23-B819-44A9E8C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销售撞交付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7F070-10F1-4467-8A0C-A67891E5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订单越多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交付越容易拥堵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42554-7B89-4957-B787-4E7A6941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先看依赖关系，再谈工具。忙碌是系统症状，不是能力证明。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FC1B2-4B78-4A96-AB4D-1DB14210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546833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0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1EB01F-520C-4F7D-B6E7-E4083B86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3CFB5EF2-271D-4EBD-8AC2-96B3F47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03 · LEARNING OUTCOMES</a:t>
            </a:r>
          </a:p>
        </p:txBody>
      </p:sp>
      <p:sp>
        <p:nvSpPr>
          <p:cNvPr id="3" name="s3-number">
            <a:extLst xmlns:a="http://schemas.openxmlformats.org/drawingml/2006/main">
              <a:ext uri="{FF2B5EF4-FFF2-40B4-BE49-F238E27FC236}">
                <a16:creationId xmlns:a16="http://schemas.microsoft.com/office/drawing/2014/main" id="{A0CFDDB1-4534-467E-BF11-83CE9317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ADC32E-726B-43AE-8E72-DF45B52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60 分钟，只完成三项可观察行为。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BD929-9CFB-41BD-8B7C-689BBCCE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看系统、找瓶颈、定下一个可验证的重构动作。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72C6E-A415-4793-8328-79C6436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C20CC-1F19-4BE7-95B3-50411604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32FD7-F338-42B8-AB48-DCE911CA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2D5CD-BF71-4027-810C-E5E663A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画出系统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2E648-5E55-4A8E-83E2-E56063C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把任务清单升级为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六个经营循环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CFADF-B85B-417A-9815-A2669A9E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B2555-30BA-451E-B68C-126CC6E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96959-A627-48F3-89ED-04F1C19F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8F35F-63C0-46D0-A661-F8AD7AC6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识别瓶颈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37263-0B41-44CC-99F9-9F8AEC9A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说清等待、返工或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排队最严重的环节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9BFAA-4E4C-4A88-9A27-8049E43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77796-97D6-4C89-AB42-009D8E8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5B45E-6E78-4E21-8E32-7E779ADF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9CAE9-8119-4018-8344-E7E87D3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03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重构分工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75C05-890B-41CA-8D8C-300393A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决定交给人、AI、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自动化、资产或外部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53031-85F9-4D43-A79E-4AF444A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WORKSHOP ARC · 60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3241B-C1BF-4D2D-B21E-4FF0FFF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5258F-C8FE-408F-B1A9-E7CB0185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42BBC-7366-4F44-92FF-2A20DF73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08′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6CFCD-0A8A-4793-A948-14BFD452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重新定义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112CC-08A2-4C89-9F9A-5A9A88D2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46E70-A6C5-4799-9925-560B98B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39D63-3200-4C5B-84F6-90FF7389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91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10′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45CA8-DA21-494B-995A-A0FE4C5C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34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系统模型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BBC1A1-09E2-4B38-BD58-E070653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197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5B045-B607-4D37-B63C-FE03F90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1C9E99-7F13-450E-BC0D-69414E79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91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12′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39027-7FAF-4CAA-B702-5CB61732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34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瓶颈判断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BB17B-9859-4D74-AB67-372D70D8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9B056-B8D9-4BA0-AD04-FD9D9A29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EA36B7-7642-4A1F-B93F-9B6DA79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91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15′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8127C-5FDF-4C5E-8586-6F27E3D9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34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系统练习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9E970B-A0A6-4BFE-9A40-E32A0F37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DF69F4-1739-41E3-8A49-1C781E9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61FB3A-48B1-4872-94F9-526C7BC2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10′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A3B25B-7E5B-4882-A12E-7647FC7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34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反馈评估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208399-40C3-4889-8FAD-83C0C07C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753941-53CD-4F9C-A54C-BA09ABBB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910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05′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99FE20-0D8B-419F-8F1A-A603007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34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迁移承诺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249C22-4080-4A26-BDC2-41806F0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练习与反馈时间优先于继续增加知识点。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6F990A-176C-4C87-9B9A-19614D18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81748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0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04105C-08AB-4F73-950C-743BA77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5C1DF-82D2-4603-8C82-F3EBF423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4-eyebrow">
            <a:extLst xmlns:a="http://schemas.openxmlformats.org/drawingml/2006/main">
              <a:ext uri="{FF2B5EF4-FFF2-40B4-BE49-F238E27FC236}">
                <a16:creationId xmlns:a16="http://schemas.microsoft.com/office/drawing/2014/main" id="{1209AA31-02F8-4D2A-87C1-7471E621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· MENTAL MODEL</a:t>
            </a:r>
          </a:p>
        </p:txBody>
      </p:sp>
      <p:sp>
        <p:nvSpPr>
          <p:cNvPr id="4" name="s4-number">
            <a:extLst xmlns:a="http://schemas.openxmlformats.org/drawingml/2006/main">
              <a:ext uri="{FF2B5EF4-FFF2-40B4-BE49-F238E27FC236}">
                <a16:creationId xmlns:a16="http://schemas.microsoft.com/office/drawing/2014/main" id="{4127F982-E851-4B69-A2B3-00C99F6D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BEAAE3-078F-43CB-9276-B556C1BD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系统所有者 ≠ 系统工人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32018-FC84-4321-AB6F-823127CF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DC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DCE5FF"/>
                </a:solidFill>
                <a:latin typeface="Noto Sans CJK SC"/>
                <a:ea typeface="Noto Sans CJK SC"/>
                <a:cs typeface="Noto Sans CJK SC"/>
              </a:rPr>
              <a:t>人留在高判断、高关系、高责任的决策门；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DC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DCE5FF"/>
                </a:solidFill>
                <a:latin typeface="Noto Sans CJK SC"/>
                <a:ea typeface="Noto Sans CJK SC"/>
                <a:cs typeface="Noto Sans CJK SC"/>
              </a:rPr>
              <a:t>其余工作由系统稳定吸收。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EE5C9-B04E-4279-9413-DBDE33B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19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B8F3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8F34D"/>
                </a:solidFill>
                <a:latin typeface="Noto Sans CJK SC"/>
                <a:ea typeface="Noto Sans CJK SC"/>
                <a:cs typeface="Noto Sans CJK SC"/>
              </a:rPr>
              <a:t>SYSTEM OWNER &gt; SYSTEM WORKER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E97B4-CFC8-4E36-936D-CA32632F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9431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E255E-F8B1-444C-91EE-F91A2DD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08333-9D62-417D-860E-59E3050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0EED4-FDC7-40C6-B270-581C8C34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市场信号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74C22-928F-4070-9CE5-C1124302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需求 / 趋势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1992E-F1BF-40C5-80F3-2161A6A7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9431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A310F-74E3-4F21-9D9D-7BFC6A26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F6E3B-0B7B-470D-90AA-7859B328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766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7134A-40C8-4C15-9E9E-B6A26F5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76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决策核心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6F62D-1533-4E2D-99BD-738D295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定位 / 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53AC3-C5B7-4CE2-A5A9-9F62702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19431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B9694-B385-42B4-9189-DA05A9B4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6C2C1-586E-491E-B962-6368DC65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766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2C986-1C6D-408B-AAA1-ED09BE0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576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价值引擎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1F3E0-4F48-46A9-A3DD-7984AC7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38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获客 / 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C22FB-7CB5-492C-AC9D-3305810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9431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1F444-4652-4D54-B482-088632A3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CC798-DA22-495F-8D94-1FADD4A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766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7586B-226F-4417-AFE9-97310A5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576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杠杆层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9CB85-04A4-4C9B-B7F0-8D00DC6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38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AI / 自动化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14ED6-5A0A-4559-A279-1E5C1F2C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19431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338F1-C5F8-4F83-9D9E-478FEC2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9D7F5-38C8-4C08-9D71-2EAC74E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766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EC737-1FE3-47C1-90A3-01F0AFD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576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资产反馈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0FA081-B588-478A-8C07-0C70AFB3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38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SOP / 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AFAF5-5F02-4B86-B149-FF53E8B6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81650"/>
            <a:ext cx="674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人的决策门：方向 · 取舍 · 关系 · 承诺 · 风险责任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427A3-F96B-4CDF-801F-8094E507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1356622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D19C0-C0FA-4DC0-9978-2875B7D7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0A89D4C1-F785-45C7-B7B8-EDBC311D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05 · OPERATING LOOPS</a:t>
            </a:r>
          </a:p>
        </p:txBody>
      </p:sp>
      <p:sp>
        <p:nvSpPr>
          <p:cNvPr id="3" name="s5-number">
            <a:extLst xmlns:a="http://schemas.openxmlformats.org/drawingml/2006/main">
              <a:ext uri="{FF2B5EF4-FFF2-40B4-BE49-F238E27FC236}">
                <a16:creationId xmlns:a16="http://schemas.microsoft.com/office/drawing/2014/main" id="{61E3B3B8-8BEC-4AA0-ADAE-35FE344D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C6737-F455-4A04-8F54-0C35D1BA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用六个循环看公司，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不要只看一串待办。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0a88de4274444"/>
          <a:srcRect xmlns:a="http://schemas.openxmlformats.org/drawingml/2006/main" l="0" t="1493" r="0" b="1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2209800"/>
            <a:ext cx="5105400" cy="371475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4E800-0418-4B5B-B7EC-EB19126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2AC94-947D-46DF-BF2D-2BEB0B6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36BBD-D428-4055-928D-1F07AA27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机会从哪里来？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2E3F1-E277-4261-A825-E74F95CB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9E49F-5334-4265-955A-1A315366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585AD-0F5A-4BD7-A603-3466BCA1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吸引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B2E27-39F1-48FF-BB16-BA6F189D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什么持续带来注意力？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DAF85-C30A-4EDD-BD56-A126CBFA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67AC5-8D62-46DD-9A3F-AFC534B4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35314-A39B-4CDE-BCD5-FC37F18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242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转化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64BB7-E2F2-4370-86AA-AE3819B4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如何判断谁值得成交？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903ED-BBD0-47EA-BB68-DE0BFDC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5923B-567E-414F-BE98-D3797F0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6BBDA-4D39-45FC-9629-9E506A5A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242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D5CE4-9A76-493E-B5CA-2A167240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结果如何稳定产生？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B33DB-7DBD-4555-BF1C-44E05C82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291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0F97B-9340-449F-A897-D606304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60BC2-C275-4D55-9E65-DBE58626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053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留存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AE52C-6C61-421C-BD5F-14CC805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33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如何复购与推荐？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A4FBE-C1FF-40E1-B546-337F164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102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6750C-28BC-4E75-8C7C-02B18692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5031A-41E5-49A7-A099-04A3F36A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053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学习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5B4284-1C74-47F9-8960-24207EFF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33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什么数据回到下一轮？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EDEA5-DE82-4FD7-A10D-49368BEC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102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82872-3488-4B2C-BAFD-D8A71C84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每个循环都要回答：输入、规则、输出、反馈。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0CEBF6-58FF-4CC9-96D5-03FF630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1562664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0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EBA809-91AD-4258-A1EC-5D34C787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3256FA91-B3BC-4F45-BA4B-6AAB63FA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06 · BOTTLENECK LAW</a:t>
            </a:r>
          </a:p>
        </p:txBody>
      </p:sp>
      <p:sp>
        <p:nvSpPr>
          <p:cNvPr id="3" name="s6-number">
            <a:extLst xmlns:a="http://schemas.openxmlformats.org/drawingml/2006/main">
              <a:ext uri="{FF2B5EF4-FFF2-40B4-BE49-F238E27FC236}">
                <a16:creationId xmlns:a16="http://schemas.microsoft.com/office/drawing/2014/main" id="{E6C37EBB-3BB1-42BE-B7EE-B5E413E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F04C0F-9144-4DC5-B8A6-0403478A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先处理最窄瓶颈，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再增加上游流量。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EB423-2F22-4067-85B8-514B2C9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示意：内容咨询型 OPC 的月度吞吐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589A4-BC77-4C96-90BD-C80FB21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线索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AACA4-0E6A-422F-A98E-72FC142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3219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F43AC-B6A9-44A1-8C2B-E8B42A17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3219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1E29E-21C4-402C-B02E-E3C7099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14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100 /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428D6-40AA-4696-BDAE-2216DC3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咨询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E18F6-31F2-46AC-8D00-813F1A8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3219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4F23C-4418-49A9-B56F-0916A69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64389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B5713-8F9C-4CA2-B82B-375629FF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38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20 / 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4E598-32EB-4BAD-93C7-FD953F32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可交付项目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B2A07-3880-4CA1-993C-C8CB6795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3219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4E031-313C-449A-A94F-8ADB96DA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19316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0B1F0-FC48-46FE-8971-CD3EFE4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62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6 / 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84443-39F6-41E8-91A5-69EACCE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复盘案例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DF3D0-6050-458F-B9A7-4888394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3219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15603-F101-4D5E-B7EA-7803F23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F5A58-720A-4024-86A7-262CAD60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863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4 / 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F3082-6B6B-4E38-AF9B-19B6F02D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6 / 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0D0C9-5DCA-47CF-A828-74163A2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瓶颈 = 当前交付能力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C56EC-D4D2-4298-ABDA-A97BBBA1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0268D-52CD-4275-99DA-AFCC485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99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可见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5CD18-B34F-43BC-9F03-5FD652BF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量化等待、返工与排队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56871-D40A-4981-987B-5502E530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1888DD-B788-4118-B33E-12105B8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D1123-FF8D-4921-9882-1FBD2D5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找出最限制结果的环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3A7B7-25A8-4841-BFAE-DBB046C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A10B36-26D3-4A85-8600-3C401B22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529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重构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65FB9-FCB7-4371-BA5F-26D2FBD6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先改规则、容量或分工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47A34-63D4-4C78-BF65-88FDC90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53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6F1E60-4714-48F9-82D3-5C227C5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244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再测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26F10B-E2AF-43AC-B5B0-2DD3593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530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瓶颈移动后重新观察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AEE61-BA45-4EDC-AD69-DC3C042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不要优化“最容易自动化”的环；优化“最限制系统结果”的环。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0EC766-6E60-4FC4-89AF-7E9B8D8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055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ILLUSTRATIVE · 非行业基准或实测结果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722A63-48AC-468D-8368-024CED0F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1808399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AD3E4-808C-43BD-95C1-B87C3183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D81A15AA-92A0-4FD2-B7EA-66206B8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07 · LEVERAGE DESIGN</a:t>
            </a:r>
          </a:p>
        </p:txBody>
      </p:sp>
      <p:sp>
        <p:nvSpPr>
          <p:cNvPr id="3" name="s7-number">
            <a:extLst xmlns:a="http://schemas.openxmlformats.org/drawingml/2006/main">
              <a:ext uri="{FF2B5EF4-FFF2-40B4-BE49-F238E27FC236}">
                <a16:creationId xmlns:a16="http://schemas.microsoft.com/office/drawing/2014/main" id="{C6473205-E8CC-4006-BEC5-618B600B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D082B2-C2F0-4CB9-941B-14CFADA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先决定谁来承担，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再决定用什么工具。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94879-2865-4501-8C18-53E6597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五种杠杆不是能力排名，而是不同责任边界。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F68B6-D50B-4CEC-B444-D5D0DA7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杠杆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82499-A2B0-4A37-A59C-1A638E81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最适合承担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434D3-AFA4-4324-BA59-1BD60DE8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必要边界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05718-7C7E-4590-97E9-A98B44B8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EC2A2-E315-47E4-AC33-701F2DB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A044E-7B1E-4439-9591-A414E5D4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人类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E1BCC-9463-43B1-A457-016E60E8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方向、谈判、关键关系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D3384-A073-4B86-A9EF-CBB76467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保留最终判断与责任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28092-9B97-4B06-AB29-6AB99EF0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9999E-DF9B-4B51-9EA3-7057CB09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BE4D1-C02C-41E3-B941-76E3D80A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AI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89CEB-F6F1-431C-A433-3FE5E51C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研究、归纳、草拟、编排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926CF-9EB4-4BE2-B4A9-0858A65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528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高认知任务必须可验收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50F86-370C-4DE5-AE44-06F0B3DF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11CAD-016F-4235-AE23-6C36AE8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AAD2C-9296-468E-A565-28712DC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自动化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ACE5B-F532-4F63-A07D-1EDB1CC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6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触发、同步、搬运、固定规则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465B4-974C-4267-8659-FB693DCB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624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规则稳定后再自动执行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DA38D-221C-4D1E-8CD3-463AB8B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68AD0-745D-4BDD-A183-B09B006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6FADF-0222-4466-9ABC-AF7D1C42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可复用资产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C7C26-4DC2-4D78-BD42-0C50D7A9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SOP、模板、代码、内容库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9B9F8-571C-46AD-B34E-0BB9C3A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720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一次创建，多次复用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1A4D0-CBE6-4D66-AFBE-E7F2C5C0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6C68E-5811-4833-BE5C-AAE32B29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9EBFA1-D98A-43C8-AE86-4248747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外部网络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7CBAF-4176-404F-A1C4-B420812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81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财税、法务、专家与供应链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C2934-E0D8-45CE-832E-4FDC48A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816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把高专业责任交给专业方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D3DA2-EF4D-43A8-83F7-1008171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高频 × 稳定 → 自动化 / 资产化　　高认知 × 可验证 → AI + Human Gate　　低频 × 高专业 → 外部网络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E75A92-489E-41D3-9E02-5A8479E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968203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87c4ec4ad414e"/>
          <a:srcRect xmlns:a="http://schemas.openxmlformats.org/drawingml/2006/main" l="0" t="2000" r="0" b="23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FBA0C-986B-4D69-87C6-24EFD93F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"/>
            <a:ext cx="440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E4CB5-F629-43CD-94DE-CB00D42E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08 · CONCEPT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1F9E-6227-49D0-97AB-6F57EEA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4953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4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内容咨询型 OPC：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4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从个人串联，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34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变成系统持续推进。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71A37-D0F1-4D6C-B324-90405CBA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C247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C24737"/>
                </a:solidFill>
                <a:latin typeface="Noto Sans CJK SC"/>
                <a:ea typeface="Noto Sans CJK SC"/>
                <a:cs typeface="Noto Sans CJK SC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C0FFD-EF0C-4567-A167-D716E2C7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每次重新找选题、写内容、回私信、做方案与交付。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1BCB5-2D02-4AC4-B508-88F96576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7D72F-CA55-4745-9CD5-355CD1F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人保留主题选择、关键谈判与验收；系统持续收集、分层并回写资产。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2C509-02AF-4292-AA50-92D2E25F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85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86F10-4163-4392-90C2-386E7BD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C8D06-B680-44F4-98D2-577B609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483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目标不是“工作消失”，而是依赖关系被重新设计。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BF85F-2021-45CE-A8C5-E66D56DB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15100"/>
            <a:ext cx="2628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SYNTHETIC CONCEPT · 非实测项目</a:t>
            </a:r>
          </a:p>
        </p:txBody>
      </p:sp>
    </p:spTree>
    <p:extLst>
      <p:ext uri="{BB962C8B-B14F-4D97-AF65-F5344CB8AC3E}">
        <p14:creationId xmlns:p14="http://schemas.microsoft.com/office/powerpoint/2010/main" val="2045652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0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67C2F-442D-4CD2-B690-BD198BB4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87A69518-1B70-4731-88DC-1A2E6C6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09 · PRACTICE</a:t>
            </a:r>
          </a:p>
        </p:txBody>
      </p:sp>
      <p:sp>
        <p:nvSpPr>
          <p:cNvPr id="3" name="s9-number">
            <a:extLst xmlns:a="http://schemas.openxmlformats.org/drawingml/2006/main">
              <a:ext uri="{FF2B5EF4-FFF2-40B4-BE49-F238E27FC236}">
                <a16:creationId xmlns:a16="http://schemas.microsoft.com/office/drawing/2014/main" id="{8BDF10E8-CF76-4048-8F91-FC9CBF0B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096F3C-5D3D-4CF9-8FEC-F411017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5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画出你的系统，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5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圈出一个真正的瓶颈。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5CB8-AF0B-46EE-9E93-5E8C17B6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15 MIN · 独立 / 双人 · 一张可带走的系统地图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57036c554805"/>
          <a:srcRect xmlns:a="http://schemas.openxmlformats.org/drawingml/2006/main" l="5485" t="0" r="5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2552700"/>
            <a:ext cx="5334000" cy="337185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74BE5-6B65-408E-B00B-A0F4C7B3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122F6-513B-4192-9D7D-3AA86F6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F1825-0FA4-4A46-8666-3D587D4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03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写出六个经营循环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C2D70-E765-47DD-82A6-B2B54E3C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6B4DE-A7B9-4ADC-8F8E-67AA253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80425-5291-4BBC-A1CC-3DAE88AF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86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标出每个循环由谁承担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56CD1-9309-4EE3-8E30-DF6D19BD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C38A5-42B5-4E4C-B129-1E09B8AB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48CF-84D5-430B-A453-3233D44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圈出等待、返工或排队最多处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B02A6-E92A-4BAC-9210-56DCA06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169C2-2899-4F82-AA77-8D1ED3DD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86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53DDE-1895-4DD0-B9A0-5E691E9D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57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选择一个重构动作并定义证据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15C54-026F-41F6-9798-494F6FDC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29250"/>
            <a:ext cx="46672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0963D-088A-4931-A3AF-A1CA7A84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2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169C7-EB6A-4B1D-AB61-17F3DDEE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81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完成标准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9C3CB-7875-4F1C-B1F1-DE4D557D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一句话说清：先改什么，以及为什么。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7B919-BFFA-4B44-8ABC-19889103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1614416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19ECA-412E-4CFD-8A97-52438BB9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45010CC5-0D0F-409E-BF56-652CFB8C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10 · FEEDBACK &amp; ASSESSMENT</a:t>
            </a:r>
          </a:p>
        </p:txBody>
      </p:sp>
      <p:sp>
        <p:nvSpPr>
          <p:cNvPr id="3" name="s10-number">
            <a:extLst xmlns:a="http://schemas.openxmlformats.org/drawingml/2006/main">
              <a:ext uri="{FF2B5EF4-FFF2-40B4-BE49-F238E27FC236}">
                <a16:creationId xmlns:a16="http://schemas.microsoft.com/office/drawing/2014/main" id="{70E4D6CE-19D7-4E01-BDEE-26C0F84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63391B-2249-45C3-B86D-A785BC5F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7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系统是否变好，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7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要用证据验收。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22BD6-66E9-410B-9B2F-F1740BE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同伴反馈不评价“想法好不好”，只检查三件事。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731e7ab95449d"/>
          <a:srcRect xmlns:a="http://schemas.openxmlformats.org/drawingml/2006/main" l="851" t="0" r="8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686550" y="800100"/>
            <a:ext cx="4857750" cy="27813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14093-87B3-46B4-B552-019B405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3CE22-E9BB-4B8E-9394-F0CC22C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93CB8-DDD6-4D3B-B06A-BA77BDDB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责任清楚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611E8-4DCE-409B-8C79-5142FA36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谁执行，谁保留最终判断？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CE7E0-38CB-49CE-9AE5-06B9AEA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5C857-BC18-498C-9822-2634AB8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B5A34-FE99-4165-B042-F69DEEED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完成可验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D7E9A-DE44-4A48-AFA1-E817EFE3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91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什么结果算完成，如何检查？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92147-F595-463C-B989-FBBD32E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9DE4C-181C-4CE3-8A9D-CDE8A1E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50AD1-EC96-4F37-94D7-2C059EA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反馈闭环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9044A-33E3-43CF-B99E-DE308F69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什么数据会回到下一轮？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43392-F8AB-4C15-BB1D-F107CAB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反馈句式：我能验证 ______；我仍看不见 ______；下一步请补充 ______。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8143F-6CFC-4BE1-BF17-CC4324EA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1467648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0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40283-4A3F-41E0-8D6B-C5E815B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EE8DDCE1-8FDA-4453-A9AB-93FFC0F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11 · TRANSFER PLAN</a:t>
            </a:r>
          </a:p>
        </p:txBody>
      </p:sp>
      <p:sp>
        <p:nvSpPr>
          <p:cNvPr id="3" name="s11-number">
            <a:extLst xmlns:a="http://schemas.openxmlformats.org/drawingml/2006/main">
              <a:ext uri="{FF2B5EF4-FFF2-40B4-BE49-F238E27FC236}">
                <a16:creationId xmlns:a16="http://schemas.microsoft.com/office/drawing/2014/main" id="{E5A2F968-8813-4C3B-83DB-C6E577E3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D3A864-382B-42E3-9C23-755CF11A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30 天只改一个瓶颈，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让反馈证明它是否有效。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7B862-012B-444C-B700-2B1B1990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MINIMUM OPERATING SYSTEM · 30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26641-202D-4CD2-BCB1-1E318B36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W1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09C29-F9E3-4B91-95B6-DC399EC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9024E-B9A2-4296-A911-AA668CF2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画系统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4517A-C6E8-43A9-8ED2-8D70985B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列出六个循环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记录等待与返工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BBD70-D08A-4865-9819-765F0DFF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W2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BC8B8-5C78-4BAE-9B31-FAE1CF3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D7616-5C92-4FC1-BF5F-F56E37F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修瓶颈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4D1FD-8B15-4E57-8E25-C9990ECF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577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只改最限制结果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的一个环节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21B6A-171C-4E03-A069-71FD15FB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237A57"/>
                </a:solidFill>
                <a:latin typeface="Noto Sans CJK SC"/>
                <a:ea typeface="Noto Sans CJK SC"/>
                <a:cs typeface="Noto Sans CJK SC"/>
              </a:rPr>
              <a:t>W3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94431-FB47-428A-B203-F3B3F426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CCEDD-77E7-471D-B03B-78E5638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重新分工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52B06-AB3A-4F82-B2A0-282D2FE1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明确人 / AI / 自动化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与 Human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63154-E4FD-4953-B4C9-26952D8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W4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B57B7-75FE-4D6A-9C5D-78E4CA4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47A7D-8EEF-460B-A2F8-62560EC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闭反馈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00A68-9A1F-45FA-B16F-AAAD9FAF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设 1–2 个证据指标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A6476"/>
                </a:solidFill>
                <a:latin typeface="Noto Sans CJK SC"/>
                <a:ea typeface="Noto Sans CJK SC"/>
                <a:cs typeface="Noto Sans CJK SC"/>
              </a:rPr>
              <a:t>把经验写回资产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8ED01-EA92-48EF-A262-B06A3112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763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B9A2E-27D4-4F97-B4EF-53AEE464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5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340A2-1A35-4EAE-8047-A28DBD09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435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最终检验：如果你离开 7 天，哪些循环仍能继续？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29928-B4B6-4B1A-82C3-7B48256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OPC SYSTEM THINKING · WORKSHOP</a:t>
            </a:r>
          </a:p>
        </p:txBody>
      </p:sp>
    </p:spTree>
    <p:extLst>
      <p:ext uri="{BB962C8B-B14F-4D97-AF65-F5344CB8AC3E}">
        <p14:creationId xmlns:p14="http://schemas.microsoft.com/office/powerpoint/2010/main" val="443353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3cd3974fa4e8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819D-DD94-4190-96D1-82071BE6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91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6F47C-20C5-49DF-877B-A787F7BB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600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EC6E4-487E-4B60-868B-5C56AD43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12 · TRANSFER COMMITMENT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0791-2C7B-444D-808E-D0033418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先造系统，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>
                <a:solidFill>
                  <a:srgbClr val="164CFF"/>
                </a:solidFill>
                <a:latin typeface="Noto Sans CJK SC"/>
                <a:ea typeface="Noto Sans CJK SC"/>
                <a:cs typeface="Noto Sans CJK SC"/>
              </a:rPr>
              <a:t>再放大规模。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AB353-39BA-4448-B2C9-C8B9ADB6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8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停止 ______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把 ______ 交给 ______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用 ______ 验证系统是否变好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EB5ED-E017-4A88-ABDF-5EE65B1A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B1632"/>
                </a:solidFill>
                <a:latin typeface="Noto Sans CJK SC"/>
                <a:ea typeface="Noto Sans CJK SC"/>
                <a:cs typeface="Noto Sans CJK SC"/>
              </a:rPr>
              <a:t>SYSTEM &gt; HUSTLE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F9F4D-76B6-4814-A42C-CD47E96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E899D"/>
                </a:solidFill>
                <a:latin typeface="Noto Sans CJK SC"/>
                <a:ea typeface="Noto Sans CJK SC"/>
                <a:cs typeface="Noto Sans CJK SC"/>
              </a:rPr>
              <a:t>SYNTHETIC CONCEPT PHOTOGRAPHY · 非真实项目影像</a:t>
            </a:r>
          </a:p>
        </p:txBody>
      </p:sp>
    </p:spTree>
    <p:extLst>
      <p:ext uri="{BB962C8B-B14F-4D97-AF65-F5344CB8AC3E}">
        <p14:creationId xmlns:p14="http://schemas.microsoft.com/office/powerpoint/2010/main" val="825107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2026-08-31T05:12:50.8510000Z</dcterms:created>
  <dcterms:modified xsi:type="dcterms:W3CDTF">2026-08-31T05:12:50.8510000Z</dcterms:modified>
</coreProperties>
</file>